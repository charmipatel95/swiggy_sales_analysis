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801A"/>
    <a:srgbClr val="C14E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310" autoAdjust="0"/>
  </p:normalViewPr>
  <p:slideViewPr>
    <p:cSldViewPr snapToGrid="0">
      <p:cViewPr>
        <p:scale>
          <a:sx n="57" d="100"/>
          <a:sy n="57" d="100"/>
        </p:scale>
        <p:origin x="66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867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092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219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17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003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91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333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04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A60510E-4004-4B15-ADB1-176997898CB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5342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295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331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0510E-4004-4B15-ADB1-176997898CB9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A4A1602-6FB4-4F85-A9C5-73C2A1C0A575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36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0FB292-6E05-B6FB-7CB5-901253EC5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EEAD33-3072-985D-D834-C946D990C7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38411-D1F3-6E67-64B1-6823B403B4AA}"/>
              </a:ext>
            </a:extLst>
          </p:cNvPr>
          <p:cNvSpPr txBox="1"/>
          <p:nvPr/>
        </p:nvSpPr>
        <p:spPr>
          <a:xfrm>
            <a:off x="238125" y="883541"/>
            <a:ext cx="9397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2800" b="1" dirty="0">
                <a:highlight>
                  <a:srgbClr val="FC801A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58765F-F470-D839-DF38-742EDC4D78AA}"/>
              </a:ext>
            </a:extLst>
          </p:cNvPr>
          <p:cNvSpPr txBox="1"/>
          <p:nvPr/>
        </p:nvSpPr>
        <p:spPr>
          <a:xfrm>
            <a:off x="238125" y="1375420"/>
            <a:ext cx="3629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bg1"/>
                </a:solidFill>
                <a:effectLst/>
                <a:highlight>
                  <a:srgbClr val="008000"/>
                </a:highlight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KPI’s</a:t>
            </a:r>
            <a:endParaRPr lang="en-IN" sz="2800" kern="100" dirty="0">
              <a:solidFill>
                <a:schemeClr val="bg1"/>
              </a:solidFill>
              <a:effectLst/>
              <a:highlight>
                <a:srgbClr val="008000"/>
              </a:highlight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CE9B8B-2D62-6FC5-F533-51B277FAA9AA}"/>
              </a:ext>
            </a:extLst>
          </p:cNvPr>
          <p:cNvSpPr txBox="1"/>
          <p:nvPr/>
        </p:nvSpPr>
        <p:spPr>
          <a:xfrm>
            <a:off x="238125" y="1959351"/>
            <a:ext cx="10248900" cy="2925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19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Total Sales (₹)</a:t>
            </a:r>
            <a:r>
              <a:rPr lang="en-US" altLang="en-US" sz="19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– Overall revenue generated from food orders.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19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Average Rating</a:t>
            </a:r>
            <a:r>
              <a:rPr lang="en-US" altLang="en-US" sz="19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– Customer satisfaction level across all restaurants.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19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Average Order Value (₹)</a:t>
            </a:r>
            <a:r>
              <a:rPr lang="en-US" altLang="en-US" sz="19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– Revenue per order.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19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Ratings Count</a:t>
            </a:r>
            <a:r>
              <a:rPr lang="en-US" altLang="en-US" sz="19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– Total number of customer reviews.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19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Total Orders</a:t>
            </a:r>
            <a:r>
              <a:rPr lang="en-US" altLang="en-US" sz="19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– Number of food orders received.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FAB0FD-ADA4-7DAC-2252-1C31E9B304AB}"/>
              </a:ext>
            </a:extLst>
          </p:cNvPr>
          <p:cNvSpPr/>
          <p:nvPr/>
        </p:nvSpPr>
        <p:spPr>
          <a:xfrm>
            <a:off x="0" y="5367"/>
            <a:ext cx="12192000" cy="826325"/>
          </a:xfrm>
          <a:prstGeom prst="rect">
            <a:avLst/>
          </a:prstGeom>
          <a:solidFill>
            <a:schemeClr val="tx2">
              <a:lumMod val="90000"/>
              <a:lumOff val="1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black background with orange letters&#10;&#10;AI-generated content may be incorrect.">
            <a:extLst>
              <a:ext uri="{FF2B5EF4-FFF2-40B4-BE49-F238E27FC236}">
                <a16:creationId xmlns:a16="http://schemas.microsoft.com/office/drawing/2014/main" id="{A212D835-CC4C-D1E5-66E2-0FF782710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848" y="0"/>
            <a:ext cx="2836304" cy="826325"/>
          </a:xfrm>
          <a:prstGeom prst="rect">
            <a:avLst/>
          </a:prstGeom>
        </p:spPr>
      </p:pic>
      <p:pic>
        <p:nvPicPr>
          <p:cNvPr id="2" name="Picture 5" descr="Swiggy Social Media Case Study - Starthunt Campaign on TikTok">
            <a:extLst>
              <a:ext uri="{FF2B5EF4-FFF2-40B4-BE49-F238E27FC236}">
                <a16:creationId xmlns:a16="http://schemas.microsoft.com/office/drawing/2014/main" id="{B8E4B458-AA41-003B-5F6F-2EFEF4D74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013" y="6271"/>
            <a:ext cx="1092994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3714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AF176-DF1F-192A-9708-9DBE50139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FA51EC-DFC2-799E-764B-1B8E945A7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B6CC2A-4F97-69E5-4BE4-A1DDAB8D0D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5C837F-3A3E-C158-7E72-027D567ECE72}"/>
              </a:ext>
            </a:extLst>
          </p:cNvPr>
          <p:cNvSpPr txBox="1"/>
          <p:nvPr/>
        </p:nvSpPr>
        <p:spPr>
          <a:xfrm>
            <a:off x="238125" y="888628"/>
            <a:ext cx="9397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2800" b="1" dirty="0">
                <a:highlight>
                  <a:srgbClr val="FC801A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C2EA6-5D3A-EE8F-F1B1-A0EF9A3048FB}"/>
              </a:ext>
            </a:extLst>
          </p:cNvPr>
          <p:cNvSpPr txBox="1"/>
          <p:nvPr/>
        </p:nvSpPr>
        <p:spPr>
          <a:xfrm>
            <a:off x="238125" y="1388974"/>
            <a:ext cx="3629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bg1"/>
                </a:solidFill>
                <a:effectLst/>
                <a:highlight>
                  <a:srgbClr val="008000"/>
                </a:highlight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CHART’S</a:t>
            </a:r>
            <a:endParaRPr lang="en-IN" sz="2800" kern="100" dirty="0">
              <a:solidFill>
                <a:schemeClr val="bg1"/>
              </a:solidFill>
              <a:effectLst/>
              <a:highlight>
                <a:srgbClr val="008000"/>
              </a:highlight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AD5524-C68E-88FE-2EBF-F169E406EE2F}"/>
              </a:ext>
            </a:extLst>
          </p:cNvPr>
          <p:cNvSpPr txBox="1"/>
          <p:nvPr/>
        </p:nvSpPr>
        <p:spPr>
          <a:xfrm>
            <a:off x="238125" y="1775859"/>
            <a:ext cx="11706225" cy="4862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Monthly Sales Trend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– Shows how total sales fluctuate month by month.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Daily Sales Trend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– Highlights order and revenue variations across days of the week.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Total Sales by Food Type (Veg vs Non-Veg)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– Compares revenue contribution by cuisine type.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nn-NO" sz="1900" b="1" dirty="0">
                <a:latin typeface="Segoe UI" panose="020B0502040204020203" pitchFamily="34" charset="0"/>
                <a:cs typeface="Segoe UI" panose="020B0502040204020203" pitchFamily="34" charset="0"/>
              </a:rPr>
              <a:t>Veg vs Non-Veg :</a:t>
            </a:r>
            <a:r>
              <a:rPr lang="nn-NO" sz="1900" dirty="0">
                <a:latin typeface="Segoe UI" panose="020B0502040204020203" pitchFamily="34" charset="0"/>
                <a:cs typeface="Segoe UI" panose="020B0502040204020203" pitchFamily="34" charset="0"/>
              </a:rPr>
              <a:t> Number of Orders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Total Sales by State (Map Visualization)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– Displays state-wise revenue distribution.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Top 5 Cities by Sales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– Identifies leading cities contributing the most revenue.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19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Top 10 Restaurants by Revenue </a:t>
            </a:r>
            <a:r>
              <a:rPr lang="en-US" altLang="en-US" sz="19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– </a:t>
            </a:r>
            <a:r>
              <a:rPr lang="en-US" sz="19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Identifies dishes contributing the highest revenue. 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19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Top 10 Most Ordered Dishes </a:t>
            </a:r>
            <a:r>
              <a:rPr lang="en-US" altLang="en-US" sz="19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– </a:t>
            </a:r>
            <a:r>
              <a:rPr lang="en-US" sz="19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Identifies most ordered dishes highlight customer food preferences.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19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Top 10 Dishes by Revenue </a:t>
            </a:r>
            <a:r>
              <a:rPr lang="en-US" altLang="en-US" sz="19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– </a:t>
            </a:r>
            <a:r>
              <a:rPr lang="en-US" sz="19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Identifies dishes contributing the highest revenue.</a:t>
            </a:r>
            <a:endParaRPr lang="en-US" sz="1900" b="1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1900" b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Quarterly Performance Summary</a:t>
            </a:r>
            <a:r>
              <a:rPr lang="en-US" altLang="en-US" sz="19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– Combines Sales, Ratings, and Orders by Quarter.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Weekly Trend Analysis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– Monitors weekly fluctuations in sales to identify consistency or peak periods.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0EBFD6-ADFC-D753-A7B3-49669D014C20}"/>
              </a:ext>
            </a:extLst>
          </p:cNvPr>
          <p:cNvSpPr/>
          <p:nvPr/>
        </p:nvSpPr>
        <p:spPr>
          <a:xfrm>
            <a:off x="0" y="5367"/>
            <a:ext cx="12192000" cy="826325"/>
          </a:xfrm>
          <a:prstGeom prst="rect">
            <a:avLst/>
          </a:prstGeom>
          <a:solidFill>
            <a:schemeClr val="tx2">
              <a:lumMod val="90000"/>
              <a:lumOff val="1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black background with orange letters&#10;&#10;AI-generated content may be incorrect.">
            <a:extLst>
              <a:ext uri="{FF2B5EF4-FFF2-40B4-BE49-F238E27FC236}">
                <a16:creationId xmlns:a16="http://schemas.microsoft.com/office/drawing/2014/main" id="{FB4A3C7D-D868-AFCD-AD47-9399E3CCC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848" y="0"/>
            <a:ext cx="2836304" cy="826325"/>
          </a:xfrm>
          <a:prstGeom prst="rect">
            <a:avLst/>
          </a:prstGeom>
        </p:spPr>
      </p:pic>
      <p:pic>
        <p:nvPicPr>
          <p:cNvPr id="1029" name="Picture 5" descr="Swiggy Social Media Case Study - Starthunt Campaign on TikTok">
            <a:extLst>
              <a:ext uri="{FF2B5EF4-FFF2-40B4-BE49-F238E27FC236}">
                <a16:creationId xmlns:a16="http://schemas.microsoft.com/office/drawing/2014/main" id="{29B4B6D0-83D7-32BA-1EC7-32E599135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9006" y="-17144"/>
            <a:ext cx="1092994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9417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3086</TotalTime>
  <Words>210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Gill Sans MT</vt:lpstr>
      <vt:lpstr>Segoe UI</vt:lpstr>
      <vt:lpstr>Wingdings</vt:lpstr>
      <vt:lpstr>Gallery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Swapnjeet S</dc:creator>
  <cp:lastModifiedBy>Charmi Patel</cp:lastModifiedBy>
  <cp:revision>12</cp:revision>
  <dcterms:created xsi:type="dcterms:W3CDTF">2025-11-10T15:38:41Z</dcterms:created>
  <dcterms:modified xsi:type="dcterms:W3CDTF">2026-05-18T22:57:08Z</dcterms:modified>
</cp:coreProperties>
</file>